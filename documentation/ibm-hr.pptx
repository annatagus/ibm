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2.xml" ContentType="application/vnd.openxmlformats-officedocument.presentationml.slide+xml"/>
  <Override PartName="/ppt/notesSlides/notesSlide.xml" ContentType="application/vnd.openxmlformats-officedocument.presentationml.notesSlide+xml"/>
  <Override PartName="/ppt/slides/slide3.xml" ContentType="application/vnd.openxmlformats-officedocument.presentationml.slide+xml"/>
  <Override PartName="/ppt/notesSlides/notesSlide2.xml" ContentType="application/vnd.openxmlformats-officedocument.presentationml.notesSlide+xml"/>
  <Override PartName="/ppt/slides/slide4.xml" ContentType="application/vnd.openxmlformats-officedocument.presentationml.slide+xml"/>
  <Override PartName="/ppt/notesSlides/notesSlide3.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elId0"/>
    <p:sldId id="258" r:id="RelId1"/>
    <p:sldId id="259" r:id="Rel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C910"/>
    <a:srgbClr val="D9D9D9"/>
    <a:srgbClr val="D3D3D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34580" autoAdjust="0"/>
    <p:restoredTop sz="86410" autoAdjust="0"/>
  </p:normalViewPr>
  <p:slideViewPr>
    <p:cSldViewPr snapToGrid="0" snapToObjects="1">
      <p:cViewPr varScale="1">
        <p:scale>
          <a:sx n="72" d="100"/>
          <a:sy n="72" d="100"/>
        </p:scale>
        <p:origin x="84" y="756"/>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presProps" Target="presProps.xml" Id="rId3" /><Relationship Type="http://schemas.openxmlformats.org/officeDocument/2006/relationships/slide" Target="slides/slide1.xml" Id="rId2" /><Relationship Type="http://schemas.openxmlformats.org/officeDocument/2006/relationships/slideMaster" Target="slideMasters/slideMaster1.xml" Id="rId1" /><Relationship Type="http://schemas.openxmlformats.org/officeDocument/2006/relationships/tableStyles" Target="tableStyles.xml" Id="rId6" /><Relationship Type="http://schemas.openxmlformats.org/officeDocument/2006/relationships/theme" Target="theme/theme1.xml" Id="rId5" /><Relationship Type="http://schemas.openxmlformats.org/officeDocument/2006/relationships/viewProps" Target="viewProps.xml" Id="rId4" /><Relationship Type="http://schemas.openxmlformats.org/officeDocument/2006/relationships/slide" Target="/ppt/slides/slide2.xml" Id="RelId0" /><Relationship Type="http://schemas.openxmlformats.org/officeDocument/2006/relationships/slide" Target="/ppt/slides/slide3.xml" Id="RelId1" /><Relationship Type="http://schemas.openxmlformats.org/officeDocument/2006/relationships/slide" Target="/ppt/slides/slide4.xml" Id="RelId2" /></Relationships>
</file>

<file path=ppt/notesSlides/notesSlide.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image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Exposição à reforma por departamento</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Índice Equilíbrio Trabalho/Vida Atual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Variação Felicidade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Índice Felicidade Atual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Colaboradores Atuais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 Reforma em 5 anos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Idade Média Atual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Distribuição etária atual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Inicial vs. atual por departamento</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Rácio Feminino</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2.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Distribuição género por classe etária</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Rácio Feminino</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Distância média de casa (km) / classe etária</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Até 30 anos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Idade Média Atual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Colaboradores Atuais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Distribuição género por departamento</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image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Matriz</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Distribuição género por nível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Até 10 km</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Idade Mediana Atual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3.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Risco reforma em 10 anos por departamento</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Matriz</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Departamento crítico</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Reforma em 5 anos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Risco reforma por departamento</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Risco reforma por nível</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Reforma em 10 anos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Cargo crítico</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image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 Reforma em 5 anos</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747689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144985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268814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04331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27ED9C8-F09A-4D9E-BEC0-4725162E21FF}" type="datetimeFigureOut">
              <a:rPr lang="en-US" smtClean="0"/>
              <a:t>11/25/2020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25692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27ED9C8-F09A-4D9E-BEC0-4725162E21FF}" type="datetimeFigureOut">
              <a:rPr lang="en-US" smtClean="0"/>
              <a:t>11/25/2020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2809139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27ED9C8-F09A-4D9E-BEC0-4725162E21FF}" type="datetimeFigureOut">
              <a:rPr lang="en-US" smtClean="0"/>
              <a:t>11/25/2020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358181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93390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8848075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5532142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9826409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p14="http://schemas.microsoft.com/office/powerpoint/2010/main"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27ED9C8-F09A-4D9E-BEC0-4725162E21FF}" type="datetimeFigureOut">
              <a:rPr lang="en-US" smtClean="0"/>
              <a:t>11/25/2020</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C7D807A-D3EC-4DEA-86E2-120E4093F1A6}" type="slidenum">
              <a:rPr lang="en-US" smtClean="0"/>
              <a:t>‹#›</a:t>
            </a:fld>
            <a:endParaRPr lang="en-US"/>
          </a:p>
        </p:txBody>
      </p:sp>
    </p:spTree>
    <p:extLst>
      <p:ext uri="{BB962C8B-B14F-4D97-AF65-F5344CB8AC3E}">
        <p14:creationId xmlns:p14="http://schemas.microsoft.com/office/powerpoint/2010/main" val="142369109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&#65279;<?xml version="1.0" encoding="utf-8"?><Relationships xmlns="http://schemas.openxmlformats.org/package/2006/relationships"><Relationship Type="http://schemas.openxmlformats.org/officeDocument/2006/relationships/image" Target="../media/image1.png" Id="rId2" /><Relationship Type="http://schemas.openxmlformats.org/officeDocument/2006/relationships/slideLayout" Target="../slideLayouts/slideLayout7.xml" Id="rId1" /><Relationship Type="http://schemas.openxmlformats.org/officeDocument/2006/relationships/image" Target="../media/image3.png" Id="rId5" /><Relationship Type="http://schemas.openxmlformats.org/officeDocument/2006/relationships/image" Target="../media/image2.png" Id="rId4" /><Relationship Type="http://schemas.openxmlformats.org/officeDocument/2006/relationships/hyperlink" Target="https://app.powerbi.com/groups/me/reports/097f425f-c909-48c9-9d54-1e23794f831d?pbi_source=PowerPoint" TargetMode="External" Id="coverSlideHpLink" /></Relationships>
</file>

<file path=ppt/slides/_rels/slide2.xml.rels>&#65279;<?xml version="1.0" encoding="utf-8"?><Relationships xmlns="http://schemas.openxmlformats.org/package/2006/relationships"><Relationship Type="http://schemas.openxmlformats.org/officeDocument/2006/relationships/notesSlide" Target="/ppt/notesSlides/notesSlide.xml" Id="R439b0116a4ee4387" /><Relationship Type="http://schemas.openxmlformats.org/officeDocument/2006/relationships/slideLayout" Target="/ppt/slideLayouts/slideLayout8.xml" Id="Rc8b3f0561bad418c" /><Relationship Type="http://schemas.openxmlformats.org/officeDocument/2006/relationships/hyperlink" Target="https://app.powerbi.com/groups/me/reports/097f425f-c909-48c9-9d54-1e23794f831d/?pbi_source=PowerPoint" TargetMode="External" Id="RelId0" /><Relationship Type="http://schemas.openxmlformats.org/officeDocument/2006/relationships/image" Target="/ppt/media/image4.png" Id="imgId107607354" /></Relationships>
</file>

<file path=ppt/slides/_rels/slide3.xml.rels>&#65279;<?xml version="1.0" encoding="utf-8"?><Relationships xmlns="http://schemas.openxmlformats.org/package/2006/relationships"><Relationship Type="http://schemas.openxmlformats.org/officeDocument/2006/relationships/notesSlide" Target="/ppt/notesSlides/notesSlide2.xml" Id="R828633b4873c499b" /><Relationship Type="http://schemas.openxmlformats.org/officeDocument/2006/relationships/slideLayout" Target="/ppt/slideLayouts/slideLayout8.xml" Id="R621bbebf5bdb40ef" /><Relationship Type="http://schemas.openxmlformats.org/officeDocument/2006/relationships/hyperlink" Target="https://app.powerbi.com/groups/me/reports/097f425f-c909-48c9-9d54-1e23794f831d/?pbi_source=PowerPoint" TargetMode="External" Id="RelId1" /><Relationship Type="http://schemas.openxmlformats.org/officeDocument/2006/relationships/image" Target="/ppt/media/image5.png" Id="imgId107607356" /></Relationships>
</file>

<file path=ppt/slides/_rels/slide4.xml.rels>&#65279;<?xml version="1.0" encoding="utf-8"?><Relationships xmlns="http://schemas.openxmlformats.org/package/2006/relationships"><Relationship Type="http://schemas.openxmlformats.org/officeDocument/2006/relationships/notesSlide" Target="/ppt/notesSlides/notesSlide3.xml" Id="R2e07281291a341ad" /><Relationship Type="http://schemas.openxmlformats.org/officeDocument/2006/relationships/slideLayout" Target="/ppt/slideLayouts/slideLayout8.xml" Id="R223d5c8bb39f452b" /><Relationship Type="http://schemas.openxmlformats.org/officeDocument/2006/relationships/hyperlink" Target="https://app.powerbi.com/groups/me/reports/097f425f-c909-48c9-9d54-1e23794f831d/?pbi_source=PowerPoint" TargetMode="External" Id="RelId2" /><Relationship Type="http://schemas.openxmlformats.org/officeDocument/2006/relationships/image" Target="/ppt/media/image6.png" Id="imgId107607358" /></Relationships>
</file>

<file path=ppt/slides/slide1.xml><?xml version="1.0" encoding="utf-8"?>
<p:sld xmlns:adec="http://schemas.microsoft.com/office/drawing/2017/decorative" xmlns:a14="http://schemas.microsoft.com/office/drawing/2010/main" xmlns:p14="http://schemas.microsoft.com/office/powerpoint/2010/main"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9" name="Picture 8">
            <a:extLs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2" name="Title 1"/>
          <p:cNvSpPr txBox="1">
            <a:spLocks noGrp="1"/>
          </p:cNvSpPr>
          <p:nvPr>
            <p:ph type="title" idx="4294967295"/>
          </p:nvPr>
        </p:nvSpPr>
        <p:spPr>
          <a:xfrm>
            <a:off x="810584" y="2982149"/>
            <a:ext cx="6314017" cy="600075"/>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normAutofit fontScale="90000"/>
          </a:bodyPr>
          <a:lstStyle>
            <a:lvl1pPr algn="ctr" defTabSz="914400" rtl="0" eaLnBrk="1" latinLnBrk="0" hangingPunct="1">
              <a:lnSpc>
                <a:spcPct val="90000"/>
              </a:lnSpc>
              <a:spcBef>
                <a:spcPct val="0"/>
              </a:spcBef>
              <a:buNone/>
              <a:defRPr sz="4400" b="0" i="0" kern="1200" baseline="0">
                <a:solidFill>
                  <a:schemeClr val="tx1"/>
                </a:solidFill>
                <a:latin typeface="Segoe UI Light" charset="0"/>
                <a:ea typeface="Segoe UI Light" charset="0"/>
                <a:cs typeface="Segoe UI Light"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a:ln>
                  <a:noFill/>
                </a:ln>
                <a:solidFill>
                  <a:srgbClr val="F3C910"/>
                </a:solidFill>
                <a:effectLst/>
                <a:uLnTx/>
                <a:uFillTx/>
                <a:latin typeface="Segoe UI Light" charset="0"/>
                <a:ea typeface="Segoe UI Light" charset="0"/>
                <a:cs typeface="Segoe UI Light" charset="0"/>
              </a:rPr>
              <a:t>ibm-hr</a:t>
            </a:r>
            <a:endParaRPr kumimoji="0" lang="en-US" sz="4400" b="0" i="0" u="none" strike="noStrike" kern="1200" cap="none" spc="0" normalizeH="0" baseline="0" noProof="0" dirty="0">
              <a:ln>
                <a:noFill/>
              </a:ln>
              <a:solidFill>
                <a:srgbClr val="F3C910"/>
              </a:solidFill>
              <a:effectLst/>
              <a:uLnTx/>
              <a:uFillTx/>
              <a:latin typeface="Segoe UI Light" charset="0"/>
              <a:ea typeface="Segoe UI Light" charset="0"/>
              <a:cs typeface="Segoe UI Light" charset="0"/>
            </a:endParaRPr>
          </a:p>
        </p:txBody>
      </p:sp>
      <p:sp>
        <p:nvSpPr>
          <p:cNvPr id="13" name="Text Placeholder 2"/>
          <p:cNvSpPr txBox="1">
            <a:spLocks/>
          </p:cNvSpPr>
          <p:nvPr/>
        </p:nvSpPr>
        <p:spPr>
          <a:xfrm>
            <a:off x="853448" y="3658761"/>
            <a:ext cx="1488017" cy="253470"/>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a:buNone/>
              <a:defRPr sz="1200" b="0" i="0" u="sng" kern="1200">
                <a:solidFill>
                  <a:schemeClr val="tx1"/>
                </a:solidFill>
                <a:latin typeface="Segoe UI" charset="0"/>
                <a:ea typeface="Segoe UI" charset="0"/>
                <a:cs typeface="Segoe UI" charset="0"/>
              </a:defRPr>
            </a:lvl1pPr>
            <a:lvl2pPr marL="457200" indent="0" algn="ctr" defTabSz="914400" rtl="0" eaLnBrk="1" latinLnBrk="0" hangingPunct="1">
              <a:lnSpc>
                <a:spcPct val="90000"/>
              </a:lnSpc>
              <a:spcBef>
                <a:spcPts val="500"/>
              </a:spcBef>
              <a:buFont typeface="Arial"/>
              <a:buNone/>
              <a:defRPr sz="2000" kern="1200">
                <a:solidFill>
                  <a:schemeClr val="tx1">
                    <a:tint val="75000"/>
                  </a:schemeClr>
                </a:solidFill>
                <a:latin typeface="+mn-lt"/>
                <a:ea typeface="+mn-ea"/>
                <a:cs typeface="+mn-cs"/>
              </a:defRPr>
            </a:lvl2pPr>
            <a:lvl3pPr marL="914400" indent="0" algn="ctr" defTabSz="914400" rtl="0" eaLnBrk="1" latinLnBrk="0" hangingPunct="1">
              <a:lnSpc>
                <a:spcPct val="90000"/>
              </a:lnSpc>
              <a:spcBef>
                <a:spcPts val="500"/>
              </a:spcBef>
              <a:buFont typeface="Arial"/>
              <a:buNone/>
              <a:defRPr sz="1800" kern="1200">
                <a:solidFill>
                  <a:schemeClr val="tx1">
                    <a:tint val="75000"/>
                  </a:schemeClr>
                </a:solidFill>
                <a:latin typeface="+mn-lt"/>
                <a:ea typeface="+mn-ea"/>
                <a:cs typeface="+mn-cs"/>
              </a:defRPr>
            </a:lvl3pPr>
            <a:lvl4pPr marL="1371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4pPr>
            <a:lvl5pPr marL="18288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5pPr>
            <a:lvl6pPr marL="22860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6pPr>
            <a:lvl7pPr marL="27432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7pPr>
            <a:lvl8pPr marL="32004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8pPr>
            <a:lvl9pPr marL="3657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9pPr>
          </a:lstStyle>
          <a:p>
            <a:pPr algn="l"/>
            <a:r>
              <a:rPr lang="en-US" dirty="0">
                <a:solidFill>
                  <a:schemeClr val="bg1"/>
                </a:solidFill>
                <a:hlinkClick r:id="coverSlideHpLink"/>
              </a:rPr>
              <a:t>View in Power BI</a:t>
            </a:r>
            <a:endParaRPr lang="en-US" dirty="0">
              <a:solidFill>
                <a:schemeClr val="bg1"/>
              </a:solidFill>
            </a:endParaRPr>
          </a:p>
        </p:txBody>
      </p:sp>
      <p:sp>
        <p:nvSpPr>
          <p:cNvPr id="17" name="TextBox 16"/>
          <p:cNvSpPr txBox="1"/>
          <p:nvPr/>
        </p:nvSpPr>
        <p:spPr>
          <a:xfrm>
            <a:off x="832315" y="5823544"/>
            <a:ext cx="2177716" cy="369332"/>
          </a:xfrm>
          <a:prstGeom prst="rect">
            <a:avLst/>
          </a:prstGeom>
          <a:noFill/>
        </p:spPr>
        <p:txBody>
          <a:bodyPr wrap="square" rtlCol="0">
            <a:spAutoFit/>
          </a:bodyPr>
          <a:lstStyle/>
          <a:p>
            <a:r>
              <a:rPr lang="en-US" sz="900" b="1" i="0" dirty="0">
                <a:solidFill>
                  <a:schemeClr val="bg1"/>
                </a:solidFill>
                <a:latin typeface="Segoe UI Semibold" charset="0"/>
                <a:ea typeface="Segoe UI Semibold" charset="0"/>
                <a:cs typeface="Segoe UI Semibold" charset="0"/>
              </a:rPr>
              <a:t>Downloaded at:</a:t>
            </a:r>
          </a:p>
          <a:p>
            <a:r>
              <a:rPr lang="en-US" sz="900" b="0" i="0" dirty="0">
                <a:solidFill>
                  <a:schemeClr val="bg1"/>
                </a:solidFill>
                <a:latin typeface="Segoe UI" charset="0"/>
                <a:ea typeface="Segoe UI" charset="0"/>
                <a:cs typeface="Segoe UI" charset="0"/>
              </a:rPr>
              <a:t>8/2/2026 11:28:05 PM UTC</a:t>
            </a:r>
          </a:p>
        </p:txBody>
      </p:sp>
      <p:sp>
        <p:nvSpPr>
          <p:cNvPr id="10" name="TextBox 9"/>
          <p:cNvSpPr txBox="1"/>
          <p:nvPr/>
        </p:nvSpPr>
        <p:spPr>
          <a:xfrm>
            <a:off x="828512" y="5407903"/>
            <a:ext cx="2177716" cy="369332"/>
          </a:xfrm>
          <a:prstGeom prst="rect">
            <a:avLst/>
          </a:prstGeom>
          <a:noFill/>
        </p:spPr>
        <p:txBody>
          <a:bodyPr wrap="square" rtlCol="0">
            <a:spAutoFit/>
          </a:bodyPr>
          <a:lstStyle/>
          <a:p>
            <a:r>
              <a:rPr lang="en-US" sz="900" b="1" dirty="0">
                <a:solidFill>
                  <a:schemeClr val="bg1"/>
                </a:solidFill>
                <a:latin typeface="Segoe UI Semibold" charset="0"/>
                <a:ea typeface="Segoe UI Semibold" charset="0"/>
                <a:cs typeface="Segoe UI Semibold" charset="0"/>
              </a:rPr>
              <a:t>Last data refresh:</a:t>
            </a:r>
            <a:endParaRPr lang="en-US" sz="900" b="1" i="0" dirty="0">
              <a:solidFill>
                <a:schemeClr val="bg1"/>
              </a:solidFill>
              <a:latin typeface="Segoe UI Semibold" charset="0"/>
              <a:ea typeface="Segoe UI Semibold" charset="0"/>
              <a:cs typeface="Segoe UI Semibold" charset="0"/>
            </a:endParaRPr>
          </a:p>
          <a:p>
            <a:r>
              <a:rPr lang="en-US" sz="900" dirty="0">
                <a:solidFill>
                  <a:schemeClr val="bg1"/>
                </a:solidFill>
                <a:latin typeface="Segoe UI" charset="0"/>
                <a:ea typeface="Segoe UI" charset="0"/>
                <a:cs typeface="Segoe UI" charset="0"/>
              </a:rPr>
              <a:t>8/2/2026 11:18:28 PM UTC</a:t>
            </a:r>
            <a:endParaRPr lang="en-US" sz="900" b="0" i="0" dirty="0">
              <a:solidFill>
                <a:schemeClr val="bg1"/>
              </a:solidFill>
              <a:latin typeface="Segoe UI" charset="0"/>
              <a:ea typeface="Segoe UI" charset="0"/>
              <a:cs typeface="Segoe UI" charset="0"/>
            </a:endParaRPr>
          </a:p>
        </p:txBody>
      </p:sp>
      <p:pic>
        <p:nvPicPr>
          <p:cNvPr id="16" name="Picture 15" descr="Microsoft Power BI"/>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3544" y="722376"/>
            <a:ext cx="1490690" cy="245805"/>
          </a:xfrm>
          <a:prstGeom prst="rect">
            <a:avLst/>
          </a:prstGeom>
        </p:spPr>
      </p:pic>
      <p:pic>
        <p:nvPicPr>
          <p:cNvPr id="18" name="Picture 17">
            <a:extLs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39696" y="3694176"/>
            <a:ext cx="162027" cy="153025"/>
          </a:xfrm>
          <a:prstGeom prst="rect">
            <a:avLst/>
          </a:prstGeom>
        </p:spPr>
      </p:pic>
    </p:spTree>
    <p:extLst>
      <p:ext uri="{BB962C8B-B14F-4D97-AF65-F5344CB8AC3E}">
        <p14:creationId xmlns:p14="http://schemas.microsoft.com/office/powerpoint/2010/main" val="7630729"/>
      </p:ext>
    </p:extLst>
  </p:cSld>
  <p:clrMapOvr>
    <a:masterClrMapping/>
  </p:clrMapOvr>
</p:sld>
</file>

<file path=ppt/slides/slide2.xml><?xml version="1.0" encoding="utf-8"?>
<p:sld xmlns:p="http://schemas.openxmlformats.org/presentationml/2006/main">
  <p:cSld>
    <p:spTree>
      <p:nvGrpSpPr>
        <p:cNvPr id="1" name=""/>
        <p:cNvGrpSpPr/>
        <p:nvPr/>
      </p:nvGrpSpPr>
      <p:grpSpPr/>
      <p:pic>
        <p:nvPicPr>
          <p:cNvPr id="3" name="Picture" title="This slide contains the following visuals: image ,Exposição à reforma por departamento ,actionButton ,slicer ,slicer ,Índice Equilíbrio Trabalho/Vida Atual ,Variação Felicidade ,Índice Felicidade Atual ,actionButton ,Colaboradores Atuais ,textbox ,% Reforma em 5 anos ,Idade Média Atual ,actionButton ,actionButton ,textbox ,textbox ,slicer ,Distribuição etária atual ,Inicial vs. atual por departamento ,actionButton ,shape ,Rácio Feminino ,shape ,actionButton ,actionButton ,shape. Please refer to the notes on this slide for details">
            <a:hlinkClick xmlns:r="http://schemas.openxmlformats.org/officeDocument/2006/relationships" xmlns:a="http://schemas.openxmlformats.org/drawingml/2006/main" r:id="RelId0"/>
          </p:cNvPr>
          <p:cNvPicPr>
            <a:picLocks xmlns:a="http://schemas.openxmlformats.org/drawingml/2006/main" noChangeAspect="1"/>
          </p:cNvPicPr>
          <p:nvPr/>
        </p:nvPicPr>
        <p:blipFill>
          <a:blip xmlns:r="http://schemas.openxmlformats.org/officeDocument/2006/relationships" xmlns:a="http://schemas.openxmlformats.org/drawingml/2006/main" r:embed="imgId107607354"/>
          <a:stretch xmlns:a="http://schemas.openxmlformats.org/drawingml/2006/main">
            <a:fillRect/>
          </a:stretch>
        </p:blipFill>
        <p:spPr>
          <a:xfrm xmlns:a="http://schemas.openxmlformats.org/drawingml/2006/main">
            <a:off x="76200" y="0"/>
            <a:ext cx="1202055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Resumo</a:t>
            </a:r>
          </a:p>
        </p:txBody>
      </p:sp>
    </p:spTree>
    <p:clrMapOvr>
      <a:masterClrMapping xmlns:a="http://schemas.openxmlformats.org/drawingml/2006/main"/>
    </p:clrMapOvr>
  </p:cSld>
</p:sld>
</file>

<file path=ppt/slides/slide3.xml><?xml version="1.0" encoding="utf-8"?>
<p:sld xmlns:p="http://schemas.openxmlformats.org/presentationml/2006/main">
  <p:cSld>
    <p:spTree>
      <p:nvGrpSpPr>
        <p:cNvPr id="1" name=""/>
        <p:cNvGrpSpPr/>
        <p:nvPr/>
      </p:nvGrpSpPr>
      <p:grpSpPr/>
      <p:pic>
        <p:nvPicPr>
          <p:cNvPr id="3" name="Picture" title="This slide contains the following visuals: Distribuição género por classe etária ,Rácio Feminino ,slicer ,actionButton ,Distância média de casa (km) / classe etária ,actionButton ,shape ,actionButton ,Até 30 anos ,Idade Média Atual ,textbox ,slicer ,actionButton ,actionButton ,Colaboradores Atuais ,Distribuição género por departamento ,slicer ,textbox ,shape ,shape ,image ,Matriz ,Distribuição género por nível ,Até 10 km ,Idade Mediana Atual ,actionButton ,actionButton. Please refer to the notes on this slide for details">
            <a:hlinkClick xmlns:r="http://schemas.openxmlformats.org/officeDocument/2006/relationships" xmlns:a="http://schemas.openxmlformats.org/drawingml/2006/main" r:id="RelId1"/>
          </p:cNvPr>
          <p:cNvPicPr>
            <a:picLocks xmlns:a="http://schemas.openxmlformats.org/drawingml/2006/main" noChangeAspect="1"/>
          </p:cNvPicPr>
          <p:nvPr/>
        </p:nvPicPr>
        <p:blipFill>
          <a:blip xmlns:r="http://schemas.openxmlformats.org/officeDocument/2006/relationships" xmlns:a="http://schemas.openxmlformats.org/drawingml/2006/main" r:embed="imgId107607356"/>
          <a:stretch xmlns:a="http://schemas.openxmlformats.org/drawingml/2006/main">
            <a:fillRect/>
          </a:stretch>
        </p:blipFill>
        <p:spPr>
          <a:xfrm xmlns:a="http://schemas.openxmlformats.org/drawingml/2006/main">
            <a:off x="76200" y="0"/>
            <a:ext cx="1202055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Demografia</a:t>
            </a:r>
          </a:p>
        </p:txBody>
      </p:sp>
    </p:spTree>
    <p:clrMapOvr>
      <a:masterClrMapping xmlns:a="http://schemas.openxmlformats.org/drawingml/2006/main"/>
    </p:clrMapOvr>
  </p:cSld>
</p:sld>
</file>

<file path=ppt/slides/slide4.xml><?xml version="1.0" encoding="utf-8"?>
<p:sld xmlns:p="http://schemas.openxmlformats.org/presentationml/2006/main">
  <p:cSld>
    <p:spTree>
      <p:nvGrpSpPr>
        <p:cNvPr id="1" name=""/>
        <p:cNvGrpSpPr/>
        <p:nvPr/>
      </p:nvGrpSpPr>
      <p:grpSpPr/>
      <p:pic>
        <p:nvPicPr>
          <p:cNvPr id="3" name="Picture" title="This slide contains the following visuals: Risco reforma em 10 anos por departamento ,shape ,Matriz ,shape ,actionButton ,textbox ,Departamento crítico ,Reforma em 5 anos ,actionButton ,Risco reforma por departamento ,slicer ,actionButton ,slicer ,Risco reforma por nível ,Reforma em 10 anos ,actionButton ,Cargo crítico ,textbox ,textbox ,actionButton ,actionButton ,shape ,image ,actionButton ,slicer ,% Reforma em 5 anos. Please refer to the notes on this slide for details">
            <a:hlinkClick xmlns:r="http://schemas.openxmlformats.org/officeDocument/2006/relationships" xmlns:a="http://schemas.openxmlformats.org/drawingml/2006/main" r:id="RelId2"/>
          </p:cNvPr>
          <p:cNvPicPr>
            <a:picLocks xmlns:a="http://schemas.openxmlformats.org/drawingml/2006/main" noChangeAspect="1"/>
          </p:cNvPicPr>
          <p:nvPr/>
        </p:nvPicPr>
        <p:blipFill>
          <a:blip xmlns:r="http://schemas.openxmlformats.org/officeDocument/2006/relationships" xmlns:a="http://schemas.openxmlformats.org/drawingml/2006/main" r:embed="imgId107607358"/>
          <a:stretch xmlns:a="http://schemas.openxmlformats.org/drawingml/2006/main">
            <a:fillRect/>
          </a:stretch>
        </p:blipFill>
        <p:spPr>
          <a:xfrm xmlns:a="http://schemas.openxmlformats.org/drawingml/2006/main">
            <a:off x="76200" y="0"/>
            <a:ext cx="1202055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Reforma</a:t>
            </a:r>
          </a:p>
        </p:txBody>
      </p:sp>
    </p:spTree>
    <p:clrMapOvr>
      <a:masterClrMapping xmlns:a="http://schemas.openxmlformats.org/drawingml/2006/main"/>
    </p:clrMapOvr>
  </p:cSld>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TotalTime>
  <Words>27</Words>
  <Application>Microsoft Office PowerPoint</Application>
  <PresentationFormat>Widescreen</PresentationFormat>
  <Paragraphs>6</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Calibri Light</vt:lpstr>
      <vt:lpstr>Segoe UI</vt:lpstr>
      <vt:lpstr>Segoe UI Light</vt:lpstr>
      <vt:lpstr>Segoe UI Semibold</vt:lpstr>
      <vt:lpstr>Custom Design</vt:lpstr>
      <vt:lpstr>#Name of Power BI report#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Power BI</dc:creator>
  <cp:lastModifiedBy>Brian Butler</cp:lastModifiedBy>
  <cp:revision>4</cp:revision>
  <dcterms:created xsi:type="dcterms:W3CDTF">2016-09-04T11:54:55Z</dcterms:created>
  <dcterms:modified xsi:type="dcterms:W3CDTF">2020-11-25T15:29:01Z</dcterms:modified>
</cp:coreProperties>
</file>