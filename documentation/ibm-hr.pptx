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Exposição à reforma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Equilíbrio Vida/Trabalho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Variação Felicidade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Felicidade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Colaboradores Atuais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Reforma em 5 anos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Idade Média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Distribuição etária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Felicidade inicial vs. atual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Rácio Feminino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Distribuição género por classe etária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Rácio Feminino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Distância média de casa (km) / classe etária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Até 30 anos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Idade Média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Colaboradores Atuais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Distribuição género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Matriz</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Distribuição género por nível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Até 10 km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Idade Mediana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Risco reforma em 10 anos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Matriz</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Departamento crítico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Reforma em 5 anos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Risco reforma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Risco reforma por nível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Reforma em 10 anos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Cargo crítico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Reforma em 5 anos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 Envolvimento Inicial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N.º Felicidade boa ou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Distribuição Equilíbrio Vida/Trabalho - Survey Inicial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Dimensões de Satisfação - Survey Inicial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Colaboradores Iniciais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Felicidade Inicial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Equil. V/T Crítico Inicial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Felicidade Inicial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Equilíbrio V/T Inicial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Matriz Inicial de Satisfação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Equilíbrio V/T Inicial por Departamento</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N.º Felicidade boa ou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Envolvimento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Equil. V/T Crítico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Dimensões de Satisfação- Survey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Matriz Atual de Satisfação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Distribuição Equilíbrio Vida/Trabalho - Survey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Equilíbrio V/T Atual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Felicidade Atual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Equilíbrio V/T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Colaboradores Atuais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Felicidade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Variação da Felicidade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Felicid. Comum Atual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Matriz Comparativa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Saídas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Evolução Individual da Felicidade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Variação do Equil. V/T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Variação da Felicidade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Mudança para pior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Felicid. Comum Inicial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Felicidade Inicial vs. Atual por Departamento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097f425f-c909-48c9-9d54-1e23794f831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77ae3b21fe1a4c8d" /><Relationship Type="http://schemas.openxmlformats.org/officeDocument/2006/relationships/slideLayout" Target="/ppt/slideLayouts/slideLayout8.xml" Id="R96330e2de69048a3" /><Relationship Type="http://schemas.openxmlformats.org/officeDocument/2006/relationships/hyperlink" Target="https://app.powerbi.com/groups/me/reports/097f425f-c909-48c9-9d54-1e23794f831d/?pbi_source=PowerPoint" TargetMode="External" Id="RelId0" /><Relationship Type="http://schemas.openxmlformats.org/officeDocument/2006/relationships/image" Target="/ppt/media/image4.png" Id="imgId10800460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6c9b71cb1d7545e7" /><Relationship Type="http://schemas.openxmlformats.org/officeDocument/2006/relationships/slideLayout" Target="/ppt/slideLayouts/slideLayout8.xml" Id="R6e68bbad7bd541b2" /><Relationship Type="http://schemas.openxmlformats.org/officeDocument/2006/relationships/hyperlink" Target="https://app.powerbi.com/groups/me/reports/097f425f-c909-48c9-9d54-1e23794f831d/?pbi_source=PowerPoint" TargetMode="External" Id="RelId1" /><Relationship Type="http://schemas.openxmlformats.org/officeDocument/2006/relationships/image" Target="/ppt/media/image5.png" Id="imgId108004606"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a0037e3bc96344e3" /><Relationship Type="http://schemas.openxmlformats.org/officeDocument/2006/relationships/slideLayout" Target="/ppt/slideLayouts/slideLayout8.xml" Id="R5e8982cf6be14b01" /><Relationship Type="http://schemas.openxmlformats.org/officeDocument/2006/relationships/hyperlink" Target="https://app.powerbi.com/groups/me/reports/097f425f-c909-48c9-9d54-1e23794f831d/?pbi_source=PowerPoint" TargetMode="External" Id="RelId2" /><Relationship Type="http://schemas.openxmlformats.org/officeDocument/2006/relationships/image" Target="/ppt/media/image6.png" Id="imgId10800461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9e101745e2ee4079" /><Relationship Type="http://schemas.openxmlformats.org/officeDocument/2006/relationships/slideLayout" Target="/ppt/slideLayouts/slideLayout8.xml" Id="Rf05f09657a8a4331" /><Relationship Type="http://schemas.openxmlformats.org/officeDocument/2006/relationships/hyperlink" Target="https://app.powerbi.com/groups/me/reports/097f425f-c909-48c9-9d54-1e23794f831d/?pbi_source=PowerPoint" TargetMode="External" Id="RelId3" /><Relationship Type="http://schemas.openxmlformats.org/officeDocument/2006/relationships/image" Target="/ppt/media/image7.png" Id="imgId108004608"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30ba8dfea85449c7" /><Relationship Type="http://schemas.openxmlformats.org/officeDocument/2006/relationships/slideLayout" Target="/ppt/slideLayouts/slideLayout8.xml" Id="R825a7c5681b64412" /><Relationship Type="http://schemas.openxmlformats.org/officeDocument/2006/relationships/hyperlink" Target="https://app.powerbi.com/groups/me/reports/097f425f-c909-48c9-9d54-1e23794f831d/?pbi_source=PowerPoint" TargetMode="External" Id="RelId4" /><Relationship Type="http://schemas.openxmlformats.org/officeDocument/2006/relationships/image" Target="/ppt/media/image8.png" Id="imgId108004599"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265d5db7436244d9" /><Relationship Type="http://schemas.openxmlformats.org/officeDocument/2006/relationships/slideLayout" Target="/ppt/slideLayouts/slideLayout8.xml" Id="R5b2a2a1b3f174a14" /><Relationship Type="http://schemas.openxmlformats.org/officeDocument/2006/relationships/hyperlink" Target="https://app.powerbi.com/groups/me/reports/097f425f-c909-48c9-9d54-1e23794f831d/?pbi_source=PowerPoint" TargetMode="External" Id="RelId5" /><Relationship Type="http://schemas.openxmlformats.org/officeDocument/2006/relationships/image" Target="/ppt/media/image9.png" Id="imgId108004609"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ibm-hr</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8/4/2026 9:16:16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8/4/2026 9:08:06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Exposição à reforma por departamento ,actionButton ,slicer ,slicer ,% Equilíbrio Vida/Trabalho Atual ,Variação Felicidade ,% Felicidade Atual ,actionButton ,Colaboradores Atuais ,textbox ,% Reforma em 5 anos ,Idade Média Atual ,actionButton ,actionButton ,textbox ,textbox ,slicer ,Distribuição etária atual ,% Felicidade inicial vs. atual por departamento ,actionButton ,shape ,Rácio Feminino ,shape ,actionButton ,actionButton ,shap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0800460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Resumo</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Distribuição género por classe etária ,Rácio Feminino ,slicer ,actionButton ,Distância média de casa (km) / classe etária ,actionButton ,shape ,actionButton ,Até 30 anos ,Idade Média Atual ,textbox ,slicer ,actionButton ,actionButton ,Colaboradores Atuais ,Distribuição género por departamento ,slicer ,textbox ,shape ,shape ,image ,Matriz ,Distribuição género por nível ,Até 10 km ,Idade Mediana Atual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0800460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Demografia</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Risco reforma em 10 anos por departamento ,shape ,Matriz ,shape ,actionButton ,textbox ,Departamento crítico ,Reforma em 5 anos ,actionButton ,Risco reforma por departamento ,slicer ,actionButton ,slicer ,Risco reforma por nível ,Reforma em 10 anos ,actionButton ,Cargo crítico ,textbox ,textbox ,actionButton ,actionButton ,shape ,image ,actionButton ,slicer ,% Reforma em 5 anos.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0800461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Reforma</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 Envolvimento Inicial ,N.º Felicidade boa ou + ,Distribuição Equilíbrio Vida/Trabalho - Survey Inicial ,actionButton ,textbox ,slicer ,shape ,slicer ,Dimensões de Satisfação - Survey Inicial ,Colaboradores Iniciais ,% Felicidade Inicial ,actionButton ,% Equil. V/T Crítico Inicial ,textbox ,slicer ,Felicidade Inicial por Departamento ,actionButton ,actionButton ,image ,actionButton ,actionButton ,actionButton ,actionButton ,shape ,shape ,actionButton ,% Equilíbrio V/T Inicial ,Matriz Inicial de Satisfação ,Equilíbrio V/T Inicial por Departamento.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0800460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Survey Inicial</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N.º Felicidade boa ou + ,actionButton ,textbox ,actionButton ,image ,shape ,% Envolvimento Atual ,actionButton ,slicer ,actionButton ,% Equil. V/T Crítico Atual ,Dimensões de Satisfação- Survey Atual ,shape ,actionButton ,Matriz Atual de Satisfação ,Distribuição Equilíbrio Vida/Trabalho - Survey Atual ,Equilíbrio V/T Atual por Departamento ,Felicidade Atual por Departamento ,% Equilíbrio V/T Atual ,Colaboradores Atuais ,textbox ,actionButton ,% Felicidade Atual ,shape ,slicer ,actionButton ,slicer ,actionButton.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0800459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Survey Atual</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Variação da Felicidade por Departamento ,% Felicid. Comum Atual ,Matriz Comparativa por Departamento ,actionButton ,Saídas ,slicer ,Evolução Individual da Felicidade ,actionButton ,textbox ,% Variação do Equil. V/T ,% Variação da Felicidade ,actionButton ,slicer ,actionButton ,actionButton ,shape ,% Mudança para pior ,textbox ,% Felicid. Comum Inicial ,actionButton ,shape ,Felicidade Inicial vs. Atual por Departamento ,actionButton ,slicer ,shape ,image ,actionButton ,actionButton.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0800460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Comparativo</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