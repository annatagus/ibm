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"/>
  </p:notesMasterIdLst>
  <p:sldIdLst>
    <p:sldId id="257" r:id="rId2"/>
    <p:sldId id="266" r:id="rId3"/>
    <p:sldId id="26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  <a:srgbClr val="0000CC"/>
    <a:srgbClr val="3333FF"/>
    <a:srgbClr val="003399"/>
    <a:srgbClr val="000099"/>
    <a:srgbClr val="0000FF"/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0" autoAdjust="0"/>
    <p:restoredTop sz="96247" autoAdjust="0"/>
  </p:normalViewPr>
  <p:slideViewPr>
    <p:cSldViewPr snapToGrid="0" snapToObjects="1">
      <p:cViewPr varScale="1">
        <p:scale>
          <a:sx n="106" d="100"/>
          <a:sy n="106" d="100"/>
        </p:scale>
        <p:origin x="528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E3B095-D07F-4EB3-8488-7E2B9D8600D4}" type="datetimeFigureOut">
              <a:rPr lang="pt-PT" smtClean="0"/>
              <a:t>06-08-2026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8143AE-10AD-4759-B056-39957DBE7096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17965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Exposição à reforma por departamento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% Equilíbrio Vida/Trabalho Atual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Variação Felicidade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% Felicidade Atual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Colaboradores Atuais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% Reforma em 5 anos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Idade Média Atual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Distribuição etária atual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% Felicidade inicial vs. atual por departamento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Rácio Feminino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C89C3-A7A9-EA65-6507-061F40C5C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>
            <a:extLst>
              <a:ext uri="{FF2B5EF4-FFF2-40B4-BE49-F238E27FC236}">
                <a16:creationId xmlns:a16="http://schemas.microsoft.com/office/drawing/2014/main" id="{C771F721-5D5D-A45D-1C4D-7C110D2FA7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Exposição à reforma por departamento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% Equilíbrio Vida/Trabalho Atual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Variação Felicidade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% Felicidade Atual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Colaboradores Atuais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% Reforma em 5 anos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Idade Média Atual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Distribuição etária atual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% Felicidade inicial vs. atual por departamento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Rácio Feminino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585441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1135B-BF72-4510-4F25-8CE4BF6E9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>
            <a:extLst>
              <a:ext uri="{FF2B5EF4-FFF2-40B4-BE49-F238E27FC236}">
                <a16:creationId xmlns:a16="http://schemas.microsoft.com/office/drawing/2014/main" id="{5D231B8D-AE71-0492-8644-CFA5B4AE76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Exposição à reforma por departamento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% Equilíbrio Vida/Trabalho Atual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Variação Felicidade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% Felicidade Atual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Colaboradores Atuais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% Reforma em 5 anos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Idade Média Atual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Distribuição etária atual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% Felicidade inicial vs. atual por departamento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Rácio Feminino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actionButton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2657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.png"/><Relationship Id="rId5" Type="http://schemas.openxmlformats.org/officeDocument/2006/relationships/hyperlink" Target="https://app.powerbi.com/groups/me/reports/097f425f-c909-48c9-9d54-1e23794f831d?pbi_source=PowerPoint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Resumo</a:t>
            </a:r>
          </a:p>
        </p:txBody>
      </p:sp>
      <p:pic>
        <p:nvPicPr>
          <p:cNvPr id="5" name="Picture 4" descr="Microsoft Power BI">
            <a:extLst>
              <a:ext uri="{FF2B5EF4-FFF2-40B4-BE49-F238E27FC236}">
                <a16:creationId xmlns:a16="http://schemas.microsoft.com/office/drawing/2014/main" id="{AE2BA83E-1000-17FE-8774-876F60AC6B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3B7F6C-E8AE-9D0B-F10A-A63A6E557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146CEF1-7F31-EFBF-37C1-4269931E83A6}"/>
              </a:ext>
            </a:extLst>
          </p:cNvPr>
          <p:cNvSpPr txBox="1">
            <a:spLocks/>
          </p:cNvSpPr>
          <p:nvPr/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algn="l">
              <a:defRPr/>
            </a:pPr>
            <a:r>
              <a:rPr lang="en-US" dirty="0" err="1">
                <a:solidFill>
                  <a:srgbClr val="F3C910"/>
                </a:solidFill>
              </a:rPr>
              <a:t>ibm-hr</a:t>
            </a:r>
            <a:endParaRPr lang="en-US" dirty="0">
              <a:solidFill>
                <a:srgbClr val="F3C910"/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8E3548D-E4E1-266D-0ABF-6B1262CE140E}"/>
              </a:ext>
            </a:extLst>
          </p:cNvPr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Segoe UI" charset="0"/>
                <a:cs typeface="Segoe UI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in Power BI</a:t>
            </a:r>
            <a:endParaRPr kumimoji="0" lang="en-US" sz="1200" b="0" i="0" u="sng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Segoe UI" charset="0"/>
              <a:cs typeface="Segoe UI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36B373-EC13-11FA-F841-933B85CD47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" y="6190299"/>
            <a:ext cx="952500" cy="381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6436096-B327-6B77-9BFE-489EB29F87B9}"/>
              </a:ext>
            </a:extLst>
          </p:cNvPr>
          <p:cNvSpPr txBox="1"/>
          <p:nvPr/>
        </p:nvSpPr>
        <p:spPr>
          <a:xfrm>
            <a:off x="1937984" y="6195041"/>
            <a:ext cx="95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 err="1">
                <a:solidFill>
                  <a:schemeClr val="bg1"/>
                </a:solidFill>
              </a:rPr>
              <a:t>AiDAPT</a:t>
            </a:r>
            <a:endParaRPr lang="pt-PT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79EEA1-761E-238D-28B1-28C3DAABECD9}"/>
              </a:ext>
            </a:extLst>
          </p:cNvPr>
          <p:cNvSpPr txBox="1"/>
          <p:nvPr/>
        </p:nvSpPr>
        <p:spPr>
          <a:xfrm>
            <a:off x="810584" y="5467847"/>
            <a:ext cx="1628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solidFill>
                  <a:schemeClr val="bg1"/>
                </a:solidFill>
              </a:rPr>
              <a:t>Data </a:t>
            </a:r>
            <a:r>
              <a:rPr lang="pt-PT" b="1" dirty="0" err="1">
                <a:solidFill>
                  <a:schemeClr val="bg1"/>
                </a:solidFill>
              </a:rPr>
              <a:t>Analytics</a:t>
            </a:r>
            <a:endParaRPr lang="pt-PT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13B447-A437-9402-F354-1DE511D71D82}"/>
              </a:ext>
            </a:extLst>
          </p:cNvPr>
          <p:cNvSpPr txBox="1"/>
          <p:nvPr/>
        </p:nvSpPr>
        <p:spPr>
          <a:xfrm>
            <a:off x="3128239" y="613912"/>
            <a:ext cx="47831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pt-PT" dirty="0">
                <a:solidFill>
                  <a:schemeClr val="bg1"/>
                </a:solidFill>
                <a:ea typeface="Roboto" panose="02000000000000000000" pitchFamily="2" charset="0"/>
              </a:rPr>
              <a:t>Professor Orientador: João Lauro de Marco</a:t>
            </a:r>
          </a:p>
          <a:p>
            <a:pPr lvl="0"/>
            <a:r>
              <a:rPr lang="pt-PT" dirty="0">
                <a:solidFill>
                  <a:schemeClr val="bg1"/>
                </a:solidFill>
                <a:ea typeface="Roboto" panose="02000000000000000000" pitchFamily="2" charset="0"/>
              </a:rPr>
              <a:t>Apresentado por: Grupo #2 </a:t>
            </a:r>
            <a:r>
              <a:rPr lang="pt-PT" dirty="0" err="1">
                <a:solidFill>
                  <a:schemeClr val="bg1"/>
                </a:solidFill>
                <a:ea typeface="Roboto" panose="02000000000000000000" pitchFamily="2" charset="0"/>
              </a:rPr>
              <a:t>Power</a:t>
            </a:r>
            <a:r>
              <a:rPr lang="pt-PT" dirty="0">
                <a:solidFill>
                  <a:schemeClr val="bg1"/>
                </a:solidFill>
                <a:ea typeface="Roboto" panose="02000000000000000000" pitchFamily="2" charset="0"/>
              </a:rPr>
              <a:t> </a:t>
            </a:r>
            <a:r>
              <a:rPr lang="pt-PT" dirty="0" err="1">
                <a:solidFill>
                  <a:schemeClr val="bg1"/>
                </a:solidFill>
                <a:ea typeface="Roboto" panose="02000000000000000000" pitchFamily="2" charset="0"/>
              </a:rPr>
              <a:t>Squad</a:t>
            </a:r>
            <a:endParaRPr lang="pt-PT" dirty="0">
              <a:solidFill>
                <a:schemeClr val="bg1"/>
              </a:solidFill>
              <a:ea typeface="Roboto" panose="02000000000000000000" pitchFamily="2" charset="0"/>
            </a:endParaRPr>
          </a:p>
          <a:p>
            <a:pPr lvl="0"/>
            <a:endParaRPr lang="pt-PT" dirty="0">
              <a:solidFill>
                <a:schemeClr val="bg1"/>
              </a:solidFill>
              <a:ea typeface="Roboto" panose="02000000000000000000" pitchFamily="2" charset="0"/>
            </a:endParaRPr>
          </a:p>
          <a:p>
            <a:pPr lvl="0"/>
            <a:r>
              <a:rPr lang="pt-PT" dirty="0" err="1">
                <a:solidFill>
                  <a:schemeClr val="bg1"/>
                </a:solidFill>
                <a:ea typeface="Roboto" panose="02000000000000000000" pitchFamily="2" charset="0"/>
              </a:rPr>
              <a:t>Dashboard</a:t>
            </a:r>
            <a:r>
              <a:rPr lang="pt-PT" dirty="0">
                <a:solidFill>
                  <a:schemeClr val="bg1"/>
                </a:solidFill>
                <a:ea typeface="Roboto" panose="02000000000000000000" pitchFamily="2" charset="0"/>
              </a:rPr>
              <a:t> de Suporte à Decisão Executiva</a:t>
            </a:r>
          </a:p>
          <a:p>
            <a:pPr lvl="0"/>
            <a:r>
              <a:rPr lang="pt-PT" dirty="0">
                <a:solidFill>
                  <a:schemeClr val="bg1"/>
                </a:solidFill>
                <a:ea typeface="Roboto" panose="02000000000000000000" pitchFamily="2" charset="0"/>
              </a:rPr>
              <a:t>IBM </a:t>
            </a:r>
            <a:r>
              <a:rPr lang="pt-PT" dirty="0" err="1">
                <a:solidFill>
                  <a:schemeClr val="bg1"/>
                </a:solidFill>
                <a:ea typeface="Roboto" panose="02000000000000000000" pitchFamily="2" charset="0"/>
              </a:rPr>
              <a:t>Dataset</a:t>
            </a:r>
            <a:r>
              <a:rPr lang="pt-PT" dirty="0">
                <a:solidFill>
                  <a:schemeClr val="bg1"/>
                </a:solidFill>
                <a:ea typeface="Roboto" panose="02000000000000000000" pitchFamily="2" charset="0"/>
              </a:rPr>
              <a:t> </a:t>
            </a:r>
            <a:r>
              <a:rPr lang="pt-PT" dirty="0" err="1">
                <a:solidFill>
                  <a:schemeClr val="bg1"/>
                </a:solidFill>
                <a:ea typeface="Roboto" panose="02000000000000000000" pitchFamily="2" charset="0"/>
              </a:rPr>
              <a:t>Analytics</a:t>
            </a:r>
            <a:endParaRPr lang="pt-PT" dirty="0">
              <a:solidFill>
                <a:schemeClr val="bg1"/>
              </a:solidFill>
              <a:ea typeface="Roboto" panose="02000000000000000000" pitchFamily="2" charset="0"/>
            </a:endParaRPr>
          </a:p>
          <a:p>
            <a:pPr lvl="0"/>
            <a:r>
              <a:rPr lang="pt-PT" dirty="0">
                <a:solidFill>
                  <a:schemeClr val="bg1"/>
                </a:solidFill>
                <a:ea typeface="Roboto" panose="02000000000000000000" pitchFamily="2" charset="0"/>
              </a:rPr>
              <a:t>Agosto de 2026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DF923E-641D-E760-9BB6-58180C4D6E65}"/>
              </a:ext>
            </a:extLst>
          </p:cNvPr>
          <p:cNvSpPr txBox="1"/>
          <p:nvPr/>
        </p:nvSpPr>
        <p:spPr>
          <a:xfrm>
            <a:off x="3128239" y="2705150"/>
            <a:ext cx="29677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pt-PT" dirty="0">
                <a:solidFill>
                  <a:schemeClr val="bg1"/>
                </a:solidFill>
                <a:ea typeface="Roboto" panose="02000000000000000000" pitchFamily="2" charset="0"/>
              </a:rPr>
              <a:t>Tiago Rodrigues</a:t>
            </a:r>
          </a:p>
          <a:p>
            <a:pPr lvl="0"/>
            <a:r>
              <a:rPr lang="pt-PT" dirty="0">
                <a:solidFill>
                  <a:schemeClr val="bg1"/>
                </a:solidFill>
                <a:ea typeface="Roboto" panose="02000000000000000000" pitchFamily="2" charset="0"/>
              </a:rPr>
              <a:t>Raquel Cunha</a:t>
            </a:r>
          </a:p>
          <a:p>
            <a:pPr lvl="0"/>
            <a:r>
              <a:rPr lang="pt-PT" dirty="0">
                <a:solidFill>
                  <a:schemeClr val="bg1"/>
                </a:solidFill>
                <a:ea typeface="Roboto" panose="02000000000000000000" pitchFamily="2" charset="0"/>
              </a:rPr>
              <a:t>Edgar Apolinário</a:t>
            </a:r>
          </a:p>
          <a:p>
            <a:pPr lvl="0"/>
            <a:r>
              <a:rPr lang="pt-PT" dirty="0">
                <a:solidFill>
                  <a:schemeClr val="bg1"/>
                </a:solidFill>
                <a:ea typeface="Roboto" panose="02000000000000000000" pitchFamily="2" charset="0"/>
              </a:rPr>
              <a:t>Nilton Ávido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D56F4-BF5E-11F9-6A2A-B1BCFFC52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hidden="1">
            <a:extLst>
              <a:ext uri="{FF2B5EF4-FFF2-40B4-BE49-F238E27FC236}">
                <a16:creationId xmlns:a16="http://schemas.microsoft.com/office/drawing/2014/main" id="{0A96BF18-0488-FDB1-1D2F-B4ED98821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EC0C03-1F23-220C-372D-01D9D8715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1CC4E6-A217-167D-3EF5-4C2631C387C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256327" y="109137"/>
            <a:ext cx="1379967" cy="5711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33ED8F5-6852-318A-C9BA-C7BBB38A77F8}"/>
              </a:ext>
            </a:extLst>
          </p:cNvPr>
          <p:cNvSpPr txBox="1"/>
          <p:nvPr/>
        </p:nvSpPr>
        <p:spPr>
          <a:xfrm>
            <a:off x="2223023" y="110030"/>
            <a:ext cx="7223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400" b="1" dirty="0"/>
              <a:t>Raio-X da Força de Trabalho &amp; Diagnóstico de Retenção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AB3645-7FE0-141C-E108-7DEA0B860693}"/>
              </a:ext>
            </a:extLst>
          </p:cNvPr>
          <p:cNvSpPr txBox="1"/>
          <p:nvPr/>
        </p:nvSpPr>
        <p:spPr>
          <a:xfrm>
            <a:off x="2223023" y="578239"/>
            <a:ext cx="72235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600" i="1" dirty="0"/>
              <a:t>Clima Organizacional, Estrutura Salarial, Paridade de Género e Plano de Reformas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0E5720-BEAA-F96B-8196-8DF25641C744}"/>
              </a:ext>
            </a:extLst>
          </p:cNvPr>
          <p:cNvSpPr txBox="1"/>
          <p:nvPr/>
        </p:nvSpPr>
        <p:spPr>
          <a:xfrm>
            <a:off x="256327" y="1397856"/>
            <a:ext cx="9705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pt-AO" sz="1600" b="1" dirty="0">
                <a:effectLst/>
              </a:rPr>
              <a:t>💙</a:t>
            </a:r>
            <a:r>
              <a:rPr lang="pt-PT" sz="1600" b="1" dirty="0">
                <a:effectLst/>
              </a:rPr>
              <a:t> Fórmula da Felicidade (4 Pilares):</a:t>
            </a:r>
            <a:endParaRPr lang="pt-AO" sz="1600" b="1" dirty="0"/>
          </a:p>
          <a:p>
            <a:pPr lvl="0"/>
            <a:r>
              <a:rPr lang="pt-AO" sz="1600" b="1" dirty="0"/>
              <a:t>       </a:t>
            </a:r>
            <a:r>
              <a:rPr lang="pt-PT" sz="1600" dirty="0">
                <a:effectLst/>
              </a:rPr>
              <a:t>Média agregada de </a:t>
            </a:r>
            <a:r>
              <a:rPr lang="pt-PT" sz="1600" i="1" dirty="0">
                <a:effectLst/>
              </a:rPr>
              <a:t>Equilíbrio V/T, Trabalho, Ambiente e Relacionamentos</a:t>
            </a:r>
            <a:r>
              <a:rPr lang="pt-PT" sz="1600" dirty="0">
                <a:effectLst/>
              </a:rPr>
              <a:t>.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3BC6D8-6F82-2295-7045-B59FEAE80D29}"/>
              </a:ext>
            </a:extLst>
          </p:cNvPr>
          <p:cNvSpPr txBox="1"/>
          <p:nvPr/>
        </p:nvSpPr>
        <p:spPr>
          <a:xfrm>
            <a:off x="256325" y="2130003"/>
            <a:ext cx="116308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pt-PT" sz="1600" b="1" dirty="0">
                <a:effectLst/>
              </a:rPr>
              <a:t>📉 Impacto do </a:t>
            </a:r>
            <a:r>
              <a:rPr lang="pt-PT" sz="1600" b="1" dirty="0" err="1">
                <a:effectLst/>
              </a:rPr>
              <a:t>Survey</a:t>
            </a:r>
            <a:r>
              <a:rPr lang="pt-PT" sz="1600" b="1" dirty="0">
                <a:effectLst/>
              </a:rPr>
              <a:t> Ping-Pong:</a:t>
            </a:r>
            <a:endParaRPr lang="pt-AO" sz="1600" b="1" dirty="0"/>
          </a:p>
          <a:p>
            <a:pPr lvl="0"/>
            <a:r>
              <a:rPr lang="pt-AO" sz="1600" b="1" dirty="0">
                <a:effectLst/>
              </a:rPr>
              <a:t>       </a:t>
            </a:r>
            <a:r>
              <a:rPr lang="pt-PT" sz="1600" dirty="0">
                <a:effectLst/>
              </a:rPr>
              <a:t>Queda da felicidade geral para </a:t>
            </a:r>
            <a:r>
              <a:rPr lang="pt-PT" sz="1600" b="1" dirty="0">
                <a:effectLst/>
              </a:rPr>
              <a:t>48,3%</a:t>
            </a:r>
            <a:r>
              <a:rPr lang="pt-PT" sz="1600" dirty="0">
                <a:effectLst/>
              </a:rPr>
              <a:t>, puxada exclusivamente pelo colapso do pilar </a:t>
            </a:r>
            <a:r>
              <a:rPr lang="pt-PT" sz="1600" b="1" dirty="0">
                <a:effectLst/>
              </a:rPr>
              <a:t>Ambiente (27,6%)</a:t>
            </a:r>
            <a:r>
              <a:rPr lang="pt-PT" sz="1600" dirty="0">
                <a:effectLst/>
              </a:rPr>
              <a:t>.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109279-27A5-71D7-AD63-1CF3D1DCE772}"/>
              </a:ext>
            </a:extLst>
          </p:cNvPr>
          <p:cNvSpPr txBox="1"/>
          <p:nvPr/>
        </p:nvSpPr>
        <p:spPr>
          <a:xfrm>
            <a:off x="256324" y="4500098"/>
            <a:ext cx="83967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pt-PT" sz="1600" b="1" dirty="0">
                <a:effectLst/>
              </a:rPr>
              <a:t>💶 Perfil Salarial das 237 Saídas:</a:t>
            </a:r>
            <a:r>
              <a:rPr lang="pt-PT" sz="1600" dirty="0">
                <a:effectLst/>
              </a:rPr>
              <a:t> </a:t>
            </a:r>
            <a:r>
              <a:rPr lang="pt-PT" sz="1600" b="1" dirty="0">
                <a:effectLst/>
              </a:rPr>
              <a:t>Sim, os colaboradores que saíram ganhavam abaixo da média</a:t>
            </a:r>
            <a:endParaRPr lang="pt-AO" sz="1600" b="1" dirty="0"/>
          </a:p>
          <a:p>
            <a:pPr lvl="0"/>
            <a:r>
              <a:rPr lang="pt-AO" sz="1600" b="1" dirty="0">
                <a:effectLst/>
              </a:rPr>
              <a:t>       </a:t>
            </a:r>
            <a:r>
              <a:rPr lang="pt-PT" sz="1600" dirty="0">
                <a:effectLst/>
              </a:rPr>
              <a:t>(Mediana das Saídas: </a:t>
            </a:r>
            <a:r>
              <a:rPr lang="pt-PT" sz="1600" b="1" dirty="0">
                <a:effectLst/>
              </a:rPr>
              <a:t>3.202 €</a:t>
            </a:r>
            <a:r>
              <a:rPr lang="pt-PT" sz="1600" dirty="0">
                <a:effectLst/>
              </a:rPr>
              <a:t> vs. Ativos: </a:t>
            </a:r>
            <a:r>
              <a:rPr lang="pt-PT" sz="1600" b="1" dirty="0">
                <a:effectLst/>
              </a:rPr>
              <a:t>5.204 €</a:t>
            </a:r>
            <a:r>
              <a:rPr lang="pt-PT" sz="1600" dirty="0">
                <a:effectLst/>
              </a:rPr>
              <a:t>; 47,7% ganhavam &lt; 3K €).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E1C5625-00E1-B2CE-05E9-BEB0AC9748CE}"/>
              </a:ext>
            </a:extLst>
          </p:cNvPr>
          <p:cNvSpPr txBox="1"/>
          <p:nvPr/>
        </p:nvSpPr>
        <p:spPr>
          <a:xfrm>
            <a:off x="256324" y="2839990"/>
            <a:ext cx="113806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pt-AO" sz="1600" b="1" dirty="0">
                <a:effectLst/>
              </a:rPr>
              <a:t>👩‍💻</a:t>
            </a:r>
            <a:r>
              <a:rPr lang="pt-PT" sz="1600" b="1" dirty="0">
                <a:effectLst/>
              </a:rPr>
              <a:t> Rácio Feminino Global (40,6%):</a:t>
            </a:r>
            <a:endParaRPr lang="pt-AO" sz="1600" b="1" dirty="0"/>
          </a:p>
          <a:p>
            <a:pPr lvl="0"/>
            <a:r>
              <a:rPr lang="pt-AO" sz="1600" b="1" dirty="0">
                <a:effectLst/>
              </a:rPr>
              <a:t>       </a:t>
            </a:r>
            <a:r>
              <a:rPr lang="pt-PT" sz="1600" dirty="0">
                <a:effectLst/>
              </a:rPr>
              <a:t>Aceitável na gestão, mas crítico no departamento de HR (</a:t>
            </a:r>
            <a:r>
              <a:rPr lang="pt-PT" sz="1600" b="1" dirty="0">
                <a:effectLst/>
              </a:rPr>
              <a:t>27,5% mulheres</a:t>
            </a:r>
            <a:r>
              <a:rPr lang="pt-PT" sz="1600" dirty="0">
                <a:effectLst/>
              </a:rPr>
              <a:t>) e </a:t>
            </a:r>
            <a:r>
              <a:rPr lang="pt-PT" sz="1600" i="1" dirty="0" err="1">
                <a:effectLst/>
              </a:rPr>
              <a:t>Entry-Level</a:t>
            </a:r>
            <a:r>
              <a:rPr lang="pt-PT" sz="1600" dirty="0">
                <a:effectLst/>
              </a:rPr>
              <a:t> (</a:t>
            </a:r>
            <a:r>
              <a:rPr lang="pt-PT" sz="1600" b="1" dirty="0">
                <a:effectLst/>
              </a:rPr>
              <a:t>36,5%</a:t>
            </a:r>
            <a:r>
              <a:rPr lang="pt-PT" sz="1600" dirty="0">
                <a:effectLst/>
              </a:rPr>
              <a:t>).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CA050B-3AB5-BA5B-74E2-DA9B0A65110A}"/>
              </a:ext>
            </a:extLst>
          </p:cNvPr>
          <p:cNvSpPr txBox="1"/>
          <p:nvPr/>
        </p:nvSpPr>
        <p:spPr>
          <a:xfrm>
            <a:off x="256324" y="3679456"/>
            <a:ext cx="113806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pt-PT" sz="1600" b="1" dirty="0">
                <a:effectLst/>
              </a:rPr>
              <a:t>👴 Reformas &amp; Recrutamento:</a:t>
            </a:r>
            <a:endParaRPr lang="pt-AO" sz="1600" b="1" dirty="0">
              <a:effectLst/>
            </a:endParaRPr>
          </a:p>
          <a:p>
            <a:pPr lvl="0"/>
            <a:r>
              <a:rPr lang="pt-AO" sz="1600" b="1" dirty="0"/>
              <a:t>       </a:t>
            </a:r>
            <a:r>
              <a:rPr lang="pt-PT" sz="1600" dirty="0">
                <a:effectLst/>
              </a:rPr>
              <a:t>Alerta imediato em </a:t>
            </a:r>
            <a:r>
              <a:rPr lang="pt-PT" sz="1600" b="1" dirty="0">
                <a:effectLst/>
              </a:rPr>
              <a:t>Sales</a:t>
            </a:r>
            <a:r>
              <a:rPr lang="pt-PT" sz="1600" dirty="0">
                <a:effectLst/>
              </a:rPr>
              <a:t> (curto prazo) e risco volumétrico em </a:t>
            </a:r>
            <a:r>
              <a:rPr lang="pt-PT" sz="1600" b="1" dirty="0">
                <a:effectLst/>
              </a:rPr>
              <a:t>R&amp;D</a:t>
            </a:r>
            <a:r>
              <a:rPr lang="pt-PT" sz="1600" dirty="0">
                <a:effectLst/>
              </a:rPr>
              <a:t> (médio prazo).</a:t>
            </a:r>
          </a:p>
        </p:txBody>
      </p:sp>
    </p:spTree>
    <p:extLst>
      <p:ext uri="{BB962C8B-B14F-4D97-AF65-F5344CB8AC3E}">
        <p14:creationId xmlns:p14="http://schemas.microsoft.com/office/powerpoint/2010/main" val="3414543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FEAA4-1138-D182-4266-91936F926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hidden="1">
            <a:extLst>
              <a:ext uri="{FF2B5EF4-FFF2-40B4-BE49-F238E27FC236}">
                <a16:creationId xmlns:a16="http://schemas.microsoft.com/office/drawing/2014/main" id="{529379BC-832E-82F2-D11F-AD3DA1CBA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5740AC-E15B-EE41-EAA1-E796E6691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1D93DC-EEE6-8BB6-7F08-53EA66BF07B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256327" y="109137"/>
            <a:ext cx="1379967" cy="5711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799785A-3535-ED08-A26F-946E2F8E8E90}"/>
              </a:ext>
            </a:extLst>
          </p:cNvPr>
          <p:cNvSpPr txBox="1"/>
          <p:nvPr/>
        </p:nvSpPr>
        <p:spPr>
          <a:xfrm>
            <a:off x="2223023" y="110030"/>
            <a:ext cx="84236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400" b="1" dirty="0"/>
              <a:t>Indicadores-Chave &amp; Recomendações para a Nova Direção de RH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9D995D-A4B3-CDA4-9FDF-5E8F47B40FBD}"/>
              </a:ext>
            </a:extLst>
          </p:cNvPr>
          <p:cNvSpPr txBox="1"/>
          <p:nvPr/>
        </p:nvSpPr>
        <p:spPr>
          <a:xfrm>
            <a:off x="256327" y="1022681"/>
            <a:ext cx="33050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600" i="1" dirty="0"/>
              <a:t>Tabela-Resumo da Situação Atual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E8B6719-89F2-BA97-35FA-38A6F7879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177314"/>
              </p:ext>
            </p:extLst>
          </p:nvPr>
        </p:nvGraphicFramePr>
        <p:xfrm>
          <a:off x="309439" y="1361235"/>
          <a:ext cx="11192749" cy="2808505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2714901">
                  <a:extLst>
                    <a:ext uri="{9D8B030D-6E8A-4147-A177-3AD203B41FA5}">
                      <a16:colId xmlns:a16="http://schemas.microsoft.com/office/drawing/2014/main" val="3535664815"/>
                    </a:ext>
                  </a:extLst>
                </a:gridCol>
                <a:gridCol w="1827187">
                  <a:extLst>
                    <a:ext uri="{9D8B030D-6E8A-4147-A177-3AD203B41FA5}">
                      <a16:colId xmlns:a16="http://schemas.microsoft.com/office/drawing/2014/main" val="286987866"/>
                    </a:ext>
                  </a:extLst>
                </a:gridCol>
                <a:gridCol w="6650661">
                  <a:extLst>
                    <a:ext uri="{9D8B030D-6E8A-4147-A177-3AD203B41FA5}">
                      <a16:colId xmlns:a16="http://schemas.microsoft.com/office/drawing/2014/main" val="4091954619"/>
                    </a:ext>
                  </a:extLst>
                </a:gridCol>
              </a:tblGrid>
              <a:tr h="401215">
                <a:tc>
                  <a:txBody>
                    <a:bodyPr/>
                    <a:lstStyle/>
                    <a:p>
                      <a:pPr algn="l"/>
                      <a:r>
                        <a:rPr lang="pt-AO" sz="1400" b="1" dirty="0"/>
                        <a:t>Área de Análise</a:t>
                      </a:r>
                      <a:endParaRPr lang="pt-PT" sz="1400" b="1" dirty="0">
                        <a:latin typeface="+mn-lt"/>
                      </a:endParaRPr>
                    </a:p>
                  </a:txBody>
                  <a:tcPr>
                    <a:solidFill>
                      <a:srgbClr val="C00000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AO" sz="1400" b="1" dirty="0"/>
                        <a:t>Métrica Atual</a:t>
                      </a:r>
                      <a:endParaRPr lang="pt-PT" sz="1400" b="1" dirty="0">
                        <a:latin typeface="+mn-lt"/>
                      </a:endParaRPr>
                    </a:p>
                  </a:txBody>
                  <a:tcPr>
                    <a:solidFill>
                      <a:srgbClr val="C00000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AO" sz="1400" b="1" dirty="0"/>
                        <a:t>Diagnóstico Crítico</a:t>
                      </a:r>
                      <a:endParaRPr lang="pt-PT" sz="1400" b="1" dirty="0">
                        <a:latin typeface="+mn-lt"/>
                      </a:endParaRPr>
                    </a:p>
                  </a:txBody>
                  <a:tcPr>
                    <a:solidFill>
                      <a:srgbClr val="C00000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395408"/>
                  </a:ext>
                </a:extLst>
              </a:tr>
              <a:tr h="401215">
                <a:tc>
                  <a:txBody>
                    <a:bodyPr/>
                    <a:lstStyle/>
                    <a:p>
                      <a:pPr algn="l"/>
                      <a:r>
                        <a:rPr lang="pt-PT" sz="1400" dirty="0"/>
                        <a:t>Felicidade Geral (Ping-Pong)</a:t>
                      </a:r>
                      <a:endParaRPr lang="pt-AO" sz="1400" i="0" dirty="0">
                        <a:latin typeface="+mn-lt"/>
                      </a:endParaRPr>
                    </a:p>
                  </a:txBody>
                  <a:tcPr>
                    <a:solidFill>
                      <a:schemeClr val="dk1">
                        <a:tint val="2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AO" sz="1400" b="0" dirty="0"/>
                        <a:t>48,3%</a:t>
                      </a:r>
                      <a:endParaRPr lang="pt-PT" sz="1400" b="0" i="0" dirty="0">
                        <a:latin typeface="+mn-lt"/>
                      </a:endParaRPr>
                    </a:p>
                  </a:txBody>
                  <a:tcPr>
                    <a:solidFill>
                      <a:schemeClr val="dk1">
                        <a:tint val="2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400" dirty="0"/>
                        <a:t>Queda de </a:t>
                      </a:r>
                      <a:r>
                        <a:rPr lang="pt-PT" sz="1400" b="1" dirty="0"/>
                        <a:t>-10,6%</a:t>
                      </a:r>
                      <a:r>
                        <a:rPr lang="pt-PT" sz="1400" dirty="0"/>
                        <a:t> na amostra comum; </a:t>
                      </a:r>
                      <a:r>
                        <a:rPr lang="pt-PT" sz="1400" b="1" dirty="0"/>
                        <a:t>75,3% pioraram</a:t>
                      </a:r>
                      <a:r>
                        <a:rPr lang="pt-PT" sz="1400" dirty="0"/>
                        <a:t> a perceção. </a:t>
                      </a:r>
                      <a:endParaRPr lang="pt-PT" sz="1400" i="0" dirty="0">
                        <a:latin typeface="+mn-lt"/>
                      </a:endParaRPr>
                    </a:p>
                  </a:txBody>
                  <a:tcPr>
                    <a:solidFill>
                      <a:schemeClr val="dk1">
                        <a:tint val="20000"/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094719"/>
                  </a:ext>
                </a:extLst>
              </a:tr>
              <a:tr h="401215">
                <a:tc>
                  <a:txBody>
                    <a:bodyPr/>
                    <a:lstStyle/>
                    <a:p>
                      <a:pPr algn="l"/>
                      <a:r>
                        <a:rPr lang="pt-PT" sz="1400" dirty="0"/>
                        <a:t>Pilar "Ambiente"</a:t>
                      </a:r>
                      <a:endParaRPr lang="pt-AO" sz="1400" i="0" dirty="0">
                        <a:latin typeface="+mn-lt"/>
                      </a:endParaRPr>
                    </a:p>
                  </a:txBody>
                  <a:tcPr>
                    <a:solidFill>
                      <a:schemeClr val="lt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AO" sz="1400" b="0" dirty="0"/>
                        <a:t>27,6%</a:t>
                      </a:r>
                      <a:endParaRPr lang="pt-PT" sz="1400" b="0" i="0" dirty="0">
                        <a:latin typeface="+mn-lt"/>
                      </a:endParaRPr>
                    </a:p>
                  </a:txBody>
                  <a:tcPr>
                    <a:solidFill>
                      <a:schemeClr val="lt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400" b="1" dirty="0"/>
                        <a:t>Único pilar a ruir</a:t>
                      </a:r>
                      <a:r>
                        <a:rPr lang="pt-PT" sz="1400" dirty="0"/>
                        <a:t> (outros 3 mantiveram-se estáveis em ~57%-59%). </a:t>
                      </a:r>
                      <a:endParaRPr lang="pt-PT" sz="1400" i="0" dirty="0">
                        <a:latin typeface="+mn-lt"/>
                      </a:endParaRPr>
                    </a:p>
                  </a:txBody>
                  <a:tcPr>
                    <a:solidFill>
                      <a:schemeClr val="lt1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258087"/>
                  </a:ext>
                </a:extLst>
              </a:tr>
              <a:tr h="401215">
                <a:tc>
                  <a:txBody>
                    <a:bodyPr/>
                    <a:lstStyle/>
                    <a:p>
                      <a:pPr algn="l"/>
                      <a:r>
                        <a:rPr lang="pt-PT" sz="1400" dirty="0"/>
                        <a:t>Salário Médio: Ativos vs. Saídas</a:t>
                      </a:r>
                      <a:endParaRPr lang="pt-AO" sz="1400" i="0" dirty="0">
                        <a:latin typeface="+mn-lt"/>
                      </a:endParaRPr>
                    </a:p>
                  </a:txBody>
                  <a:tcPr>
                    <a:solidFill>
                      <a:schemeClr val="dk1">
                        <a:tint val="2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AO" sz="1400" b="0" dirty="0"/>
                        <a:t>6.8K € vs. 4.8K €</a:t>
                      </a:r>
                      <a:endParaRPr lang="pt-PT" sz="1400" b="0" i="0" dirty="0">
                        <a:latin typeface="+mn-lt"/>
                      </a:endParaRPr>
                    </a:p>
                  </a:txBody>
                  <a:tcPr>
                    <a:solidFill>
                      <a:schemeClr val="dk1">
                        <a:tint val="2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400" dirty="0"/>
                        <a:t>A fuga de talento concentrou-se na base remuneratória (&lt; 3.000 €/mês).</a:t>
                      </a:r>
                      <a:endParaRPr lang="pt-PT" sz="1400" i="0" dirty="0">
                        <a:latin typeface="+mn-lt"/>
                      </a:endParaRPr>
                    </a:p>
                  </a:txBody>
                  <a:tcPr>
                    <a:solidFill>
                      <a:schemeClr val="dk1">
                        <a:tint val="20000"/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861593"/>
                  </a:ext>
                </a:extLst>
              </a:tr>
              <a:tr h="401215">
                <a:tc>
                  <a:txBody>
                    <a:bodyPr/>
                    <a:lstStyle/>
                    <a:p>
                      <a:pPr algn="l"/>
                      <a:r>
                        <a:rPr lang="pt-PT" sz="1400" dirty="0"/>
                        <a:t>Paridade de Género (Rácio)</a:t>
                      </a:r>
                      <a:endParaRPr lang="pt-AO" sz="1400" i="0" dirty="0">
                        <a:latin typeface="+mn-lt"/>
                      </a:endParaRPr>
                    </a:p>
                  </a:txBody>
                  <a:tcPr>
                    <a:solidFill>
                      <a:schemeClr val="lt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AO" sz="1400" b="0" dirty="0"/>
                        <a:t>40,6% Global</a:t>
                      </a:r>
                      <a:endParaRPr lang="pt-PT" sz="1400" b="0" i="0" dirty="0">
                        <a:latin typeface="+mn-lt"/>
                      </a:endParaRPr>
                    </a:p>
                  </a:txBody>
                  <a:tcPr>
                    <a:solidFill>
                      <a:schemeClr val="lt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AO" sz="1400" dirty="0"/>
                        <a:t>F</a:t>
                      </a:r>
                      <a:r>
                        <a:rPr lang="pt-PT" sz="1400" dirty="0" err="1"/>
                        <a:t>orte</a:t>
                      </a:r>
                      <a:r>
                        <a:rPr lang="pt-PT" sz="1400" dirty="0"/>
                        <a:t> desequilíbrio em HR (</a:t>
                      </a:r>
                      <a:r>
                        <a:rPr lang="pt-PT" sz="1400" b="1" dirty="0"/>
                        <a:t>72,5% homens</a:t>
                      </a:r>
                      <a:r>
                        <a:rPr lang="pt-PT" sz="1400" dirty="0"/>
                        <a:t>) e jovens 18-29 anos (</a:t>
                      </a:r>
                      <a:r>
                        <a:rPr lang="pt-PT" sz="1400" b="1" dirty="0"/>
                        <a:t>64,3% homens</a:t>
                      </a:r>
                      <a:r>
                        <a:rPr lang="pt-PT" sz="1400" dirty="0"/>
                        <a:t>). </a:t>
                      </a:r>
                      <a:endParaRPr lang="pt-PT" sz="1400" i="0" dirty="0">
                        <a:latin typeface="+mn-lt"/>
                      </a:endParaRPr>
                    </a:p>
                  </a:txBody>
                  <a:tcPr>
                    <a:solidFill>
                      <a:schemeClr val="lt1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627900"/>
                  </a:ext>
                </a:extLst>
              </a:tr>
              <a:tr h="401215">
                <a:tc>
                  <a:txBody>
                    <a:bodyPr/>
                    <a:lstStyle/>
                    <a:p>
                      <a:pPr algn="l"/>
                      <a:r>
                        <a:rPr lang="pt-PT" sz="1400" dirty="0"/>
                        <a:t>Reformas (5 Anos)</a:t>
                      </a:r>
                      <a:endParaRPr lang="pt-AO" sz="1400" i="0" dirty="0">
                        <a:latin typeface="+mn-lt"/>
                      </a:endParaRPr>
                    </a:p>
                  </a:txBody>
                  <a:tcPr>
                    <a:solidFill>
                      <a:schemeClr val="dk1">
                        <a:tint val="2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AO" sz="1400" b="0" dirty="0"/>
                        <a:t>5 Colaboradores</a:t>
                      </a:r>
                      <a:endParaRPr lang="pt-PT" sz="1400" b="0" i="0" dirty="0">
                        <a:latin typeface="+mn-lt"/>
                      </a:endParaRPr>
                    </a:p>
                  </a:txBody>
                  <a:tcPr>
                    <a:solidFill>
                      <a:schemeClr val="dk1">
                        <a:tint val="20000"/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400" dirty="0"/>
                        <a:t>Concentrado em </a:t>
                      </a:r>
                      <a:r>
                        <a:rPr lang="pt-PT" sz="1400" b="1" dirty="0"/>
                        <a:t>Sales </a:t>
                      </a:r>
                      <a:r>
                        <a:rPr lang="pt-PT" sz="1400" b="1" dirty="0" err="1"/>
                        <a:t>Executives</a:t>
                      </a:r>
                      <a:r>
                        <a:rPr lang="pt-PT" sz="1400" b="1" dirty="0"/>
                        <a:t> (3 saídas)</a:t>
                      </a:r>
                      <a:r>
                        <a:rPr lang="pt-PT" sz="1400" dirty="0"/>
                        <a:t> no departamento de Sales.</a:t>
                      </a:r>
                      <a:endParaRPr lang="pt-PT" sz="1400" i="0" dirty="0">
                        <a:latin typeface="+mn-lt"/>
                      </a:endParaRPr>
                    </a:p>
                  </a:txBody>
                  <a:tcPr>
                    <a:solidFill>
                      <a:schemeClr val="dk1">
                        <a:tint val="20000"/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376929"/>
                  </a:ext>
                </a:extLst>
              </a:tr>
              <a:tr h="401215">
                <a:tc>
                  <a:txBody>
                    <a:bodyPr/>
                    <a:lstStyle/>
                    <a:p>
                      <a:pPr algn="l"/>
                      <a:r>
                        <a:rPr lang="pt-PT" sz="1400" dirty="0"/>
                        <a:t>Reformas (10 Anos)</a:t>
                      </a:r>
                      <a:endParaRPr lang="pt-AO" sz="1400" i="0" dirty="0">
                        <a:latin typeface="+mn-lt"/>
                      </a:endParaRPr>
                    </a:p>
                  </a:txBody>
                  <a:tcPr>
                    <a:solidFill>
                      <a:schemeClr val="lt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AO" sz="1400" b="0" dirty="0"/>
                        <a:t>58 Colaboradores</a:t>
                      </a:r>
                      <a:endParaRPr lang="pt-PT" sz="1400" b="0" i="0" dirty="0">
                        <a:latin typeface="+mn-lt"/>
                      </a:endParaRPr>
                    </a:p>
                  </a:txBody>
                  <a:tcPr>
                    <a:solidFill>
                      <a:schemeClr val="lt1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sz="1400" dirty="0"/>
                        <a:t>Grande impacto futuro concentrado em </a:t>
                      </a:r>
                      <a:r>
                        <a:rPr lang="pt-PT" sz="1400" b="1" dirty="0"/>
                        <a:t>Research &amp; </a:t>
                      </a:r>
                      <a:r>
                        <a:rPr lang="pt-PT" sz="1400" b="1" dirty="0" err="1"/>
                        <a:t>Development</a:t>
                      </a:r>
                      <a:r>
                        <a:rPr lang="pt-PT" sz="1400" b="1" dirty="0"/>
                        <a:t> (38 saídas)</a:t>
                      </a:r>
                      <a:r>
                        <a:rPr lang="pt-PT" sz="1400" dirty="0"/>
                        <a:t>.</a:t>
                      </a:r>
                      <a:endParaRPr lang="pt-PT" sz="1400" i="0" dirty="0">
                        <a:latin typeface="+mn-lt"/>
                      </a:endParaRPr>
                    </a:p>
                  </a:txBody>
                  <a:tcPr>
                    <a:solidFill>
                      <a:schemeClr val="lt1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4461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C4F0744-F782-83CD-A31E-715A0E66B056}"/>
              </a:ext>
            </a:extLst>
          </p:cNvPr>
          <p:cNvSpPr txBox="1"/>
          <p:nvPr/>
        </p:nvSpPr>
        <p:spPr>
          <a:xfrm>
            <a:off x="256327" y="4339017"/>
            <a:ext cx="33050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AO" sz="1600" i="1" dirty="0"/>
              <a:t>Recomendações Executivas</a:t>
            </a:r>
            <a:endParaRPr lang="pt-PT" sz="1600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8B267F-D49F-6871-B45B-4C52379A6204}"/>
              </a:ext>
            </a:extLst>
          </p:cNvPr>
          <p:cNvSpPr txBox="1"/>
          <p:nvPr/>
        </p:nvSpPr>
        <p:spPr>
          <a:xfrm>
            <a:off x="309439" y="4696515"/>
            <a:ext cx="11192750" cy="1384995"/>
          </a:xfrm>
          <a:prstGeom prst="rect">
            <a:avLst/>
          </a:prstGeom>
          <a:solidFill>
            <a:srgbClr val="C00000">
              <a:alpha val="15000"/>
            </a:srgbClr>
          </a:solidFill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pt-PT" sz="1400" b="1" dirty="0">
                <a:effectLst/>
              </a:rPr>
              <a:t>Investigar o Pilar "Ambiente":</a:t>
            </a:r>
            <a:r>
              <a:rPr lang="pt-PT" sz="1400" dirty="0">
                <a:effectLst/>
              </a:rPr>
              <a:t> Identificar o que mudou na cultura/instalações para fazer </a:t>
            </a:r>
            <a:r>
              <a:rPr lang="pt-AO" sz="1400" dirty="0">
                <a:effectLst/>
              </a:rPr>
              <a:t>cair</a:t>
            </a:r>
            <a:r>
              <a:rPr lang="pt-PT" sz="1400" dirty="0">
                <a:effectLst/>
              </a:rPr>
              <a:t> a satisfação com o ambiente de ~57% para 27,6%. </a:t>
            </a:r>
          </a:p>
          <a:p>
            <a:pPr marL="342900" lvl="0" indent="-342900">
              <a:buFont typeface="+mj-lt"/>
              <a:buAutoNum type="arabicPeriod"/>
            </a:pPr>
            <a:r>
              <a:rPr lang="pt-PT" sz="1400" b="1" dirty="0">
                <a:effectLst/>
              </a:rPr>
              <a:t>Revisão Salarial na Base (</a:t>
            </a:r>
            <a:r>
              <a:rPr lang="pt-PT" sz="1400" b="1" dirty="0" err="1">
                <a:effectLst/>
              </a:rPr>
              <a:t>Entry-Level</a:t>
            </a:r>
            <a:r>
              <a:rPr lang="pt-PT" sz="1400" b="1" dirty="0">
                <a:effectLst/>
              </a:rPr>
              <a:t>):</a:t>
            </a:r>
            <a:r>
              <a:rPr lang="pt-PT" sz="1400" dirty="0">
                <a:effectLst/>
              </a:rPr>
              <a:t> Ajustar salários &lt; 3.000 €/mês para </a:t>
            </a:r>
            <a:r>
              <a:rPr lang="pt-AO" sz="1400" dirty="0">
                <a:effectLst/>
              </a:rPr>
              <a:t>travar</a:t>
            </a:r>
            <a:r>
              <a:rPr lang="pt-PT" sz="1400" dirty="0">
                <a:effectLst/>
              </a:rPr>
              <a:t> quase metade das saídas da empresa.</a:t>
            </a:r>
          </a:p>
          <a:p>
            <a:pPr marL="342900" lvl="0" indent="-342900">
              <a:buFont typeface="+mj-lt"/>
              <a:buAutoNum type="arabicPeriod"/>
            </a:pPr>
            <a:r>
              <a:rPr lang="pt-PT" sz="1400" b="1" dirty="0">
                <a:effectLst/>
              </a:rPr>
              <a:t>Recrutamento Imediato em Sales &amp; Diversidade em </a:t>
            </a:r>
            <a:r>
              <a:rPr lang="pt-AO" sz="1400" b="1" dirty="0">
                <a:effectLst/>
              </a:rPr>
              <a:t>(</a:t>
            </a:r>
            <a:r>
              <a:rPr lang="pt-PT" sz="1400" b="1" dirty="0">
                <a:effectLst/>
              </a:rPr>
              <a:t>HR</a:t>
            </a:r>
            <a:r>
              <a:rPr lang="pt-AO" sz="1400" b="1" dirty="0">
                <a:effectLst/>
              </a:rPr>
              <a:t> e Sub-30)</a:t>
            </a:r>
            <a:r>
              <a:rPr lang="pt-PT" sz="1400" b="1" dirty="0">
                <a:effectLst/>
              </a:rPr>
              <a:t>:</a:t>
            </a:r>
            <a:r>
              <a:rPr lang="pt-PT" sz="1400" dirty="0">
                <a:effectLst/>
              </a:rPr>
              <a:t> Substituir os 3 </a:t>
            </a:r>
            <a:r>
              <a:rPr lang="pt-PT" sz="1400" i="1" dirty="0">
                <a:effectLst/>
              </a:rPr>
              <a:t>Sales </a:t>
            </a:r>
            <a:r>
              <a:rPr lang="pt-PT" sz="1400" i="1" dirty="0" err="1">
                <a:effectLst/>
              </a:rPr>
              <a:t>Executives</a:t>
            </a:r>
            <a:r>
              <a:rPr lang="pt-PT" sz="1400" dirty="0">
                <a:effectLst/>
              </a:rPr>
              <a:t> prestes a reformar-se e atrair talento feminino para o departamento de HR</a:t>
            </a:r>
            <a:r>
              <a:rPr lang="pt-AO" sz="1400" dirty="0">
                <a:effectLst/>
              </a:rPr>
              <a:t> </a:t>
            </a:r>
            <a:r>
              <a:rPr lang="pt-PT" sz="1400" dirty="0"/>
              <a:t>(atualmente com </a:t>
            </a:r>
            <a:r>
              <a:rPr lang="pt-PT" sz="1400" b="1" dirty="0"/>
              <a:t>27,5% de mulheres</a:t>
            </a:r>
            <a:r>
              <a:rPr lang="pt-PT" sz="1400" dirty="0"/>
              <a:t>) e para a </a:t>
            </a:r>
            <a:r>
              <a:rPr lang="pt-AO" sz="1400" dirty="0"/>
              <a:t>classe</a:t>
            </a:r>
            <a:r>
              <a:rPr lang="pt-PT" sz="1400" dirty="0"/>
              <a:t> etária dos </a:t>
            </a:r>
            <a:r>
              <a:rPr lang="pt-PT" sz="1400" b="1" dirty="0"/>
              <a:t>18 aos 29 anos (sub-30)</a:t>
            </a:r>
            <a:r>
              <a:rPr lang="pt-PT" sz="1400" dirty="0"/>
              <a:t>, onde o rácio feminino atinge o valor mais baixo da empresa (</a:t>
            </a:r>
            <a:r>
              <a:rPr lang="pt-PT" sz="1400" b="1" dirty="0"/>
              <a:t>35,7%</a:t>
            </a:r>
            <a:r>
              <a:rPr lang="pt-PT" sz="1400" dirty="0"/>
              <a:t>).</a:t>
            </a:r>
            <a:endParaRPr lang="pt-PT" sz="1400" dirty="0">
              <a:effectLst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pt-PT" sz="1400" b="1" dirty="0">
                <a:effectLst/>
              </a:rPr>
              <a:t>Programa de Mentoria em R&amp;D:</a:t>
            </a:r>
            <a:r>
              <a:rPr lang="pt-PT" sz="1400" dirty="0">
                <a:effectLst/>
              </a:rPr>
              <a:t> Criar planos de retenção do conhecimento dos 38 seniores de R&amp;D que sairão a 10 anos. </a:t>
            </a:r>
          </a:p>
        </p:txBody>
      </p:sp>
    </p:spTree>
    <p:extLst>
      <p:ext uri="{BB962C8B-B14F-4D97-AF65-F5344CB8AC3E}">
        <p14:creationId xmlns:p14="http://schemas.microsoft.com/office/powerpoint/2010/main" val="35073140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Words>1002</Words>
  <Application>Microsoft Office PowerPoint</Application>
  <PresentationFormat>Widescreen</PresentationFormat>
  <Paragraphs>297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Roboto</vt:lpstr>
      <vt:lpstr>Segoe UI</vt:lpstr>
      <vt:lpstr>Custom Design</vt:lpstr>
      <vt:lpstr>Resumo</vt:lpstr>
      <vt:lpstr>Resumo</vt:lpstr>
      <vt:lpstr>Resumo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Raquel Cunha</cp:lastModifiedBy>
  <cp:revision>11</cp:revision>
  <dcterms:created xsi:type="dcterms:W3CDTF">2016-09-04T11:54:55Z</dcterms:created>
  <dcterms:modified xsi:type="dcterms:W3CDTF">2026-08-06T11:34:34Z</dcterms:modified>
</cp:coreProperties>
</file>